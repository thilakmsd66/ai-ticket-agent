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950" r:id="rId2"/>
    <p:sldId id="2147479620" r:id="rId3"/>
    <p:sldId id="2147479621" r:id="rId4"/>
    <p:sldId id="2147479622" r:id="rId5"/>
    <p:sldId id="2147479623" r:id="rId6"/>
    <p:sldId id="2147479624" r:id="rId7"/>
    <p:sldId id="2147479625" r:id="rId8"/>
    <p:sldId id="2147479626" r:id="rId9"/>
    <p:sldId id="2147479627" r:id="rId10"/>
    <p:sldId id="21474717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6DE5"/>
    <a:srgbClr val="A52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lak L" userId="S::thilak.l@hcltech.com::8fe53a1b-cbbd-4dcc-97aa-d48c25adfd31" providerId="AD" clId="Web-{F52468D2-15A9-4A56-9B53-F6866D1AF606}"/>
    <pc:docChg chg="mod modMainMaster">
      <pc:chgData name="Thilak L" userId="S::thilak.l@hcltech.com::8fe53a1b-cbbd-4dcc-97aa-d48c25adfd31" providerId="AD" clId="Web-{F52468D2-15A9-4A56-9B53-F6866D1AF606}" dt="2026-05-04T19:22:20.250" v="1" actId="33475"/>
      <pc:docMkLst>
        <pc:docMk/>
      </pc:docMkLst>
      <pc:sldMasterChg chg="addSp">
        <pc:chgData name="Thilak L" userId="S::thilak.l@hcltech.com::8fe53a1b-cbbd-4dcc-97aa-d48c25adfd31" providerId="AD" clId="Web-{F52468D2-15A9-4A56-9B53-F6866D1AF606}" dt="2026-05-04T19:22:20.235" v="0" actId="33475"/>
        <pc:sldMasterMkLst>
          <pc:docMk/>
          <pc:sldMasterMk cId="2614508541" sldId="2147483648"/>
        </pc:sldMasterMkLst>
        <pc:spChg chg="add">
          <ac:chgData name="Thilak L" userId="S::thilak.l@hcltech.com::8fe53a1b-cbbd-4dcc-97aa-d48c25adfd31" providerId="AD" clId="Web-{F52468D2-15A9-4A56-9B53-F6866D1AF606}" dt="2026-05-04T19:22:20.235" v="0" actId="33475"/>
          <ac:spMkLst>
            <pc:docMk/>
            <pc:sldMasterMk cId="2614508541" sldId="2147483648"/>
            <ac:spMk id="8" creationId="{A8A90A26-891F-F0CC-7898-3AB46E795B24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A8434-6884-4F0A-B5A6-8792C790E96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78865-6C36-4474-B50F-9357C472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69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FB07B-3A6A-409F-A6D8-E0E2B88BB5A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68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954D0-3463-C080-E384-0E0B4827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9E8EF-0E36-CE07-9681-2DC94DC5F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4AAA7-3F2E-E478-B80F-09CF60027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C5836-1BC8-D405-6C22-1637E8468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C52E18-0CA5-4F6A-82C5-6D31B50235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96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3D6C-EFCC-ED07-36DE-4E5CB2CD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F57C5-9F76-EFF4-7DD9-937E6C5D3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30F00-ED5E-7E33-68B6-E4B40E211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DD196-A8A2-1344-3A6F-E8B5FB123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C52E18-0CA5-4F6A-82C5-6D31B50235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046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7F6F-4898-9A29-572E-A115FEC3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4C198-B713-1E81-B131-4BF13E5E0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8EDFB-9A16-D4AD-43EF-33FEB9480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57420-6BD8-2761-6D1E-5EABF503C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C52E18-0CA5-4F6A-82C5-6D31B50235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130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0179-7F0B-55CA-BA14-48C3EB789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62BAE-6EED-8034-A17B-1F181401D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2F6C0-6CD4-C489-F43F-A2FD4555A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B4DAC-9FC9-2F9E-0120-B8938D5CC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FB07B-3A6A-409F-A6D8-E0E2B88BB5A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6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D87C-B8A6-ED72-99A6-A43264FD7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4B942-AE42-A954-AE78-1E77B6EFF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1B76-B1C4-E5A2-3FC9-BAE5B1A0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F6415-7CA1-B3DA-C388-0A20AB0D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85A31-E2CE-C625-6291-E56C6A21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53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7B8A-538D-079D-7D45-EB7697B6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17FB1-7473-7C9E-92FC-8EB3A7CA9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13730-5F04-8A4B-1605-2031C572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12994-AB27-2E4C-1B07-2EDE3D02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7408A-9F4C-7343-11C3-6B9C074A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88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FC65-60B2-E76B-E8E7-0F3504BD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364F6-F4E8-F13C-F3B5-6021AEE4B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C8BAF-9DB0-6B75-0D21-5E26A865F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75D1-C1FF-A0DD-1842-AEBAFDFCB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EC4D-AAB7-3A55-1B12-B1E69082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28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363C-5FBB-7064-58CB-46B37CC1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F234-8EC0-19A0-8006-9B8ABC70D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2EE80-16A1-AC7C-AEF2-1DB0E2F91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C16C5-B88A-B10E-8867-ED8BCA1B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BBA73-495D-988C-1828-D6072CAD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6F03D-ABF5-047D-C829-218880E0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447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6085-831C-681A-FC5D-72F54B9C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1A5CF-ECC2-87BB-E70C-ACBA9A098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EC583-D274-CA9F-4D62-583C16E4B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E29DB-9F74-A244-8EC4-5A3175102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03B12-C740-2B54-1B08-8AF204B07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0E721-1B6B-2783-6E9B-F1E84B12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88F989-23C1-063D-D328-A3DCAC3A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7C623-17AC-0AE4-D22F-C3025081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21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40ED-1B9B-5888-7A9C-A2FD3C09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C14E1-8BE1-E3C9-E95B-5E195AD5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2AC95-6434-23C8-4A55-C7806474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535AC-F0EC-D4E3-951A-903D3F5D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08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F0C7E-3230-140C-5800-9407C335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39D33-D9B9-19DF-6376-7FB1769A6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FF01E-0C78-A2C5-DE04-46ADDC70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86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38B3-7748-A627-F91B-B8DD28CA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BD525-DB8F-9785-0529-148DE6737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BA0A4-62F5-EA57-A57A-B1D2D4616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459F5-F5B6-4C97-428F-A8D349F7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4CC20-29BB-B388-9800-6EE95B0D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8B859-2FC8-2903-6DB1-78C69443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311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5357-492D-B15C-3459-211B8B30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F99F5-2B08-6CCE-407D-FF4BA3AD8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36640-AEBE-1607-6581-23B58331B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2BB49-7DEA-D4D4-9688-18601EA0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2356D-2D6C-18CA-C7E6-9F59DF7C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8F69E-B10E-3163-CB2B-F1576DB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7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A24A-F8B4-4603-1A00-FD7E2A1D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1B996-D84F-67CB-EEAE-5507782B5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0C5A0-A67C-C07C-95B8-30913BDF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517A-8C49-FBB2-BCF6-9C18A3C3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5C25F-D59F-1520-CE4B-7836D40B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3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404180-5C02-6191-6570-89FDD185E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B0862-840F-56CC-51C5-55CCDDC5A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9D84A-EBE1-D7DA-2FDC-D6722256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88DB2-B2D7-0E90-142C-5C6F6B44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B9C41-B2ED-AC15-8579-0D6338C1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554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ver – Spe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Speed (Dark)" descr="Beam Behaviours | Speed">
            <a:extLst>
              <a:ext uri="{FF2B5EF4-FFF2-40B4-BE49-F238E27FC236}">
                <a16:creationId xmlns:a16="http://schemas.microsoft.com/office/drawing/2014/main" id="{795123C0-516F-A2F5-08F6-5CE18BBA49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HCLTech | Supercharged Progress" descr="HCLTech | Supercharged Progress">
            <a:extLst>
              <a:ext uri="{FF2B5EF4-FFF2-40B4-BE49-F238E27FC236}">
                <a16:creationId xmlns:a16="http://schemas.microsoft.com/office/drawing/2014/main" id="{6D944A14-5E2B-02AE-1A6E-B9FF42579F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599" y="2499865"/>
            <a:ext cx="7722000" cy="1255728"/>
          </a:xfrm>
        </p:spPr>
        <p:txBody>
          <a:bodyPr anchor="b"/>
          <a:lstStyle>
            <a:lvl1pPr algn="l">
              <a:defRPr sz="4800" b="0">
                <a:latin typeface="+mn-lt"/>
              </a:defRPr>
            </a:lvl1pPr>
          </a:lstStyle>
          <a:p>
            <a:r>
              <a:rPr lang="en-US"/>
              <a:t>Insert title maximum two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99" y="3601465"/>
            <a:ext cx="7722000" cy="732848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400" b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0"/>
            <a:ext cx="4799012" cy="276999"/>
          </a:xfrm>
        </p:spPr>
        <p:txBody>
          <a:bodyPr anchor="b">
            <a:spAutoFit/>
          </a:bodyPr>
          <a:lstStyle>
            <a:lvl1pPr>
              <a:defRPr sz="1800" b="0"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2429748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3"/>
            <a:ext cx="11430000" cy="478537"/>
          </a:xfrm>
        </p:spPr>
        <p:txBody>
          <a:bodyPr>
            <a:normAutofit/>
          </a:bodyPr>
          <a:lstStyle>
            <a:lvl1pPr>
              <a:defRPr sz="2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7F39-B882-FB4F-BD46-95C2A231B68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634949"/>
            <a:ext cx="11430000" cy="350283"/>
          </a:xfrm>
        </p:spPr>
        <p:txBody>
          <a:bodyPr lIns="0" anchor="ctr">
            <a:no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C3FC5F6-8482-24D8-643E-00F09945440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1" y="1104900"/>
            <a:ext cx="11430000" cy="5257799"/>
          </a:xfrm>
        </p:spPr>
        <p:txBody>
          <a:bodyPr>
            <a:normAutofit/>
          </a:bodyPr>
          <a:lstStyle>
            <a:lvl1pPr>
              <a:defRPr sz="1400"/>
            </a:lvl1pPr>
            <a:lvl2pPr marL="465127" indent="-233357">
              <a:buFont typeface="System Font Regular"/>
              <a:buChar char="–"/>
              <a:tabLst/>
              <a:defRPr sz="1200"/>
            </a:lvl2pPr>
            <a:lvl3pPr marL="687371" indent="-222245">
              <a:tabLst/>
              <a:defRPr sz="1100"/>
            </a:lvl3pPr>
            <a:lvl4pPr>
              <a:defRPr sz="1051"/>
            </a:lvl4pPr>
            <a:lvl5pPr>
              <a:defRPr sz="1051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521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BB8CBC-E867-0BAC-6843-C67210AE5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70F21-3F29-DA7A-8F72-1035ACAA3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7F887-C5A6-C103-E15E-FC620FFE2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DFA0-37CD-4350-A011-1FCEF496E4B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82C14-1AE2-D6FD-CB19-D25247581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413D3-518B-1FF8-B635-3665CD101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22786-9D90-4117-9694-BE80956C836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90A26-891F-F0CC-7898-3AB46E795B2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61450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F920-8E03-A0B0-F9EB-84CE817AC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599" y="2306522"/>
            <a:ext cx="7722000" cy="1744772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</a:pPr>
            <a:r>
              <a:rPr lang="en-US" sz="3600" b="1" dirty="0">
                <a:latin typeface="Calibri"/>
                <a:ea typeface="Calibri"/>
                <a:cs typeface="Calibri"/>
              </a:rPr>
              <a:t>FINGEN – AI Companion for Level2 Production Support Engineer</a:t>
            </a:r>
            <a:endParaRPr lang="en-US" dirty="0"/>
          </a:p>
          <a:p>
            <a:endParaRPr lang="en-US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ECD21C-0781-1785-D4DC-9665F3B8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58" y="3889153"/>
            <a:ext cx="6068272" cy="1714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554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874E3-495D-0C85-7D77-A4163AF05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C5FED-32AD-8B5D-754B-FE99B0A9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60960" rIns="121920" bIns="60960" rtlCol="0" anchor="ctr">
            <a:noAutofit/>
          </a:bodyPr>
          <a:lstStyle/>
          <a:p>
            <a:pPr defTabSz="685800"/>
            <a:r>
              <a:rPr lang="en-US" sz="2800" dirty="0">
                <a:ln w="0"/>
                <a:latin typeface="HCLTech Roobert Heavy" pitchFamily="50" charset="0"/>
                <a:ea typeface="ＭＳ Ｐゴシック"/>
              </a:rPr>
              <a:t>FinGen AI – Intelligent Knowledge &amp; Operations Assistant</a:t>
            </a:r>
            <a:endParaRPr lang="en-US" sz="2800" dirty="0">
              <a:ln w="0"/>
              <a:latin typeface="HCLTech Roobert Heavy" pitchFamily="50" charset="0"/>
              <a:ea typeface="ＭＳ Ｐゴシック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D62DB6-86FB-1C86-0375-97A4E7FF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2" y="6448310"/>
            <a:ext cx="236821" cy="13849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 Light"/>
              <a:ea typeface="+mn-ea"/>
              <a:cs typeface="+mn-cs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BC578EF-5693-62D8-175E-58AAD84B4A0A}"/>
              </a:ext>
            </a:extLst>
          </p:cNvPr>
          <p:cNvSpPr txBox="1">
            <a:spLocks/>
          </p:cNvSpPr>
          <p:nvPr/>
        </p:nvSpPr>
        <p:spPr>
          <a:xfrm>
            <a:off x="377913" y="753422"/>
            <a:ext cx="11400360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711" b="0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2060"/>
                </a:solidFill>
              </a:rPr>
              <a:t>Key Business Challenges: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B26357-C60E-DCF9-4FC1-F941D4DD8D51}"/>
              </a:ext>
            </a:extLst>
          </p:cNvPr>
          <p:cNvSpPr/>
          <p:nvPr/>
        </p:nvSpPr>
        <p:spPr>
          <a:xfrm>
            <a:off x="363092" y="1170202"/>
            <a:ext cx="11447907" cy="23960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sz="1200" b="1" dirty="0">
                <a:solidFill>
                  <a:schemeClr val="tx1"/>
                </a:solidFill>
                <a:ea typeface="+mn-lt"/>
                <a:cs typeface="+mn-lt"/>
              </a:rPr>
              <a:t>Knowledge Fragmentation in Operations: </a:t>
            </a: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Production support engineers must refer to multiple documents, runbooks, and internal systems to understand custody banking workflows, slowing down troubleshooting and learning.</a:t>
            </a:r>
            <a:b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</a:br>
            <a:endParaRPr lang="en-US" sz="12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sz="1200" b="1" dirty="0">
                <a:solidFill>
                  <a:schemeClr val="tx1"/>
                </a:solidFill>
                <a:ea typeface="+mn-lt"/>
                <a:cs typeface="+mn-lt"/>
              </a:rPr>
              <a:t>Slow Incident Diagnosis: </a:t>
            </a: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Identifying the root cause of failures in custody operations such as NAV calculation errors, trade settlement failures, or pricing discrepancies requires manual investigation across logs and monitoring tools.</a:t>
            </a:r>
            <a:b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</a:br>
            <a:endParaRPr lang="en-US" sz="12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sz="1200" b="1" dirty="0">
                <a:solidFill>
                  <a:schemeClr val="tx1"/>
                </a:solidFill>
                <a:ea typeface="+mn-lt"/>
                <a:cs typeface="+mn-lt"/>
              </a:rPr>
              <a:t>Dependence on Subject Matter Experts: </a:t>
            </a: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Critical operational knowledge often resides with experienced engineers, making onboarding and knowledge transfer difficult for new team members.</a:t>
            </a:r>
            <a:b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</a:br>
            <a:endParaRPr lang="en-US" sz="12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sz="1200" b="1" dirty="0">
                <a:solidFill>
                  <a:schemeClr val="tx1"/>
                </a:solidFill>
                <a:ea typeface="+mn-lt"/>
                <a:cs typeface="+mn-lt"/>
              </a:rPr>
              <a:t>Lack of Structured Learning Paths: </a:t>
            </a: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Support engineers lack a guided roadmap to systematically learn custody banking workflows, operational procedures, and troubleshooting practices</a:t>
            </a:r>
            <a:endParaRPr lang="en-US" sz="1200" dirty="0">
              <a:solidFill>
                <a:schemeClr val="tx1"/>
              </a:solidFill>
              <a:cs typeface="HCLTech Roobert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931A77EE-95D3-F192-F18A-56EA9C4C0AB8}"/>
              </a:ext>
            </a:extLst>
          </p:cNvPr>
          <p:cNvSpPr txBox="1">
            <a:spLocks/>
          </p:cNvSpPr>
          <p:nvPr/>
        </p:nvSpPr>
        <p:spPr>
          <a:xfrm>
            <a:off x="6864163" y="5493962"/>
            <a:ext cx="822341" cy="830997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Font typeface="HCLTech Roobert" panose="020B0504030202060203" pitchFamily="34" charset="0"/>
              <a:buNone/>
              <a:defRPr sz="6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HCLTech Roobert" panose="020B0504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HCLTech Roobert" panose="020B0504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HCLTech Roobert" panose="020B0504030202060203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   2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08BD6F47-3DD5-94CE-223D-CCB6352F56C1}"/>
              </a:ext>
            </a:extLst>
          </p:cNvPr>
          <p:cNvSpPr txBox="1">
            <a:spLocks/>
          </p:cNvSpPr>
          <p:nvPr/>
        </p:nvSpPr>
        <p:spPr>
          <a:xfrm>
            <a:off x="10844563" y="5493962"/>
            <a:ext cx="822341" cy="830997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Font typeface="HCLTech Roobert" panose="020B0504030202060203" pitchFamily="34" charset="0"/>
              <a:buNone/>
              <a:defRPr sz="6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HCLTech Roobert" panose="020B0504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HCLTech Roobert" panose="020B0504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HCLTech Roobert" panose="020B0504030202060203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solidFill>
                  <a:srgbClr val="FFFFFF"/>
                </a:solidFill>
                <a:latin typeface="HCLTech Roobert"/>
              </a:rPr>
              <a:t>  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7FD6B3-5F5A-DE87-4DFC-167E6006E570}"/>
              </a:ext>
            </a:extLst>
          </p:cNvPr>
          <p:cNvSpPr/>
          <p:nvPr/>
        </p:nvSpPr>
        <p:spPr>
          <a:xfrm>
            <a:off x="462116" y="3923071"/>
            <a:ext cx="3018503" cy="266373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Centralized Knowledge Hub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  <a:p>
            <a:pPr algn="ctr"/>
            <a:r>
              <a:rPr lang="en-US" sz="1400" dirty="0"/>
              <a:t>Provides a unified repository of operational knowledge including custody workflows, pricing, and trade processing documentation</a:t>
            </a:r>
            <a:r>
              <a:rPr lang="en-US" sz="1600" dirty="0"/>
              <a:t>.</a:t>
            </a:r>
            <a:endParaRPr lang="en-IN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3BB94-9D8A-4AFE-A533-5CD65EB064D8}"/>
              </a:ext>
            </a:extLst>
          </p:cNvPr>
          <p:cNvSpPr/>
          <p:nvPr/>
        </p:nvSpPr>
        <p:spPr>
          <a:xfrm>
            <a:off x="4220287" y="3923071"/>
            <a:ext cx="3018503" cy="2663738"/>
          </a:xfrm>
          <a:prstGeom prst="rect">
            <a:avLst/>
          </a:prstGeom>
          <a:solidFill>
            <a:srgbClr val="A52D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AI-Powered Knowledge Companion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1400" dirty="0"/>
              <a:t>Uses Retrieval-Augmented Generation (RAG) to provide contextual answers strictly based on internal knowledge documents.</a:t>
            </a:r>
            <a:endParaRPr lang="en-I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2425B7-BDD7-A1AC-FC81-1E7F2B39A8FF}"/>
              </a:ext>
            </a:extLst>
          </p:cNvPr>
          <p:cNvSpPr/>
          <p:nvPr/>
        </p:nvSpPr>
        <p:spPr>
          <a:xfrm>
            <a:off x="7978458" y="3923071"/>
            <a:ext cx="3018503" cy="2663738"/>
          </a:xfrm>
          <a:prstGeom prst="rect">
            <a:avLst/>
          </a:prstGeom>
          <a:solidFill>
            <a:srgbClr val="C86D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Interactive Learning </a:t>
            </a:r>
            <a:r>
              <a:rPr lang="en-US" dirty="0">
                <a:solidFill>
                  <a:schemeClr val="bg1"/>
                </a:solidFill>
              </a:rPr>
              <a:t>RoadMap</a:t>
            </a:r>
            <a:br>
              <a:rPr lang="en-US" dirty="0"/>
            </a:br>
            <a:br>
              <a:rPr lang="en-US" dirty="0"/>
            </a:br>
            <a:r>
              <a:rPr lang="en-US" sz="1400" dirty="0"/>
              <a:t>A structured roadmap provides engineers with a guided learning path.</a:t>
            </a:r>
            <a:br>
              <a:rPr lang="en-US" sz="1400" dirty="0"/>
            </a:br>
            <a:r>
              <a:rPr lang="en-US" sz="1400" dirty="0"/>
              <a:t>It allows engineers to track their learning progress and understand operational workflows systematically.</a:t>
            </a:r>
            <a:endParaRPr lang="en-IN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E33566-A897-5ED6-46EC-B682E4ADA0B7}"/>
              </a:ext>
            </a:extLst>
          </p:cNvPr>
          <p:cNvSpPr/>
          <p:nvPr/>
        </p:nvSpPr>
        <p:spPr>
          <a:xfrm>
            <a:off x="2944896" y="5778257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5BA191-641D-BA30-DAB6-652734F9E67F}"/>
              </a:ext>
            </a:extLst>
          </p:cNvPr>
          <p:cNvSpPr/>
          <p:nvPr/>
        </p:nvSpPr>
        <p:spPr>
          <a:xfrm>
            <a:off x="6659063" y="5778257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BCC2D7-2032-4FF9-2A58-7D48BF57244B}"/>
              </a:ext>
            </a:extLst>
          </p:cNvPr>
          <p:cNvSpPr/>
          <p:nvPr/>
        </p:nvSpPr>
        <p:spPr>
          <a:xfrm>
            <a:off x="10552609" y="5886736"/>
            <a:ext cx="4003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183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D9D3-03DC-62FA-3D84-123CB8B14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31D8F-E06E-7763-A1BB-B05B3E45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60960" rIns="121920" bIns="60960" rtlCol="0" anchor="ctr">
            <a:noAutofit/>
          </a:bodyPr>
          <a:lstStyle/>
          <a:p>
            <a:pPr defTabSz="685800">
              <a:lnSpc>
                <a:spcPct val="90000"/>
              </a:lnSpc>
            </a:pPr>
            <a:r>
              <a:rPr lang="fr-FR" sz="2800" dirty="0">
                <a:ln w="0"/>
                <a:solidFill>
                  <a:srgbClr val="002060"/>
                </a:solidFill>
                <a:latin typeface="HCLTech Roobert Heavy" pitchFamily="50" charset="0"/>
                <a:ea typeface="ＭＳ Ｐゴシック"/>
                <a:cs typeface="+mj-cs"/>
              </a:rPr>
              <a:t>Technology Rationale</a:t>
            </a:r>
            <a:endParaRPr lang="en-US" sz="2800" dirty="0">
              <a:ln w="0"/>
              <a:solidFill>
                <a:srgbClr val="002060"/>
              </a:solidFill>
              <a:latin typeface="HCLTech Roobert Heavy" pitchFamily="50" charset="0"/>
              <a:ea typeface="ＭＳ Ｐゴシック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9F2D39-C80D-7B79-C787-1424EECC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2" y="6448310"/>
            <a:ext cx="236821" cy="13849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 Light"/>
              <a:ea typeface="+mn-ea"/>
              <a:cs typeface="+mn-cs"/>
            </a:endParaRP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2BB5719C-74E8-371C-383B-C94F0E7802C2}"/>
              </a:ext>
            </a:extLst>
          </p:cNvPr>
          <p:cNvSpPr txBox="1">
            <a:spLocks/>
          </p:cNvSpPr>
          <p:nvPr/>
        </p:nvSpPr>
        <p:spPr>
          <a:xfrm>
            <a:off x="3090195" y="5493963"/>
            <a:ext cx="779059" cy="16619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Font typeface="HCLTech Roobert" panose="020B0504030202060203" pitchFamily="34" charset="0"/>
              <a:buNone/>
              <a:defRPr sz="6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HCLTech Roobert" panose="020B0504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HCLTech Roobert" panose="020B0504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HCLTech Roobert" panose="020B0504030202060203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  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86EFA8-F131-1EEB-39CA-7A05173478C3}"/>
              </a:ext>
            </a:extLst>
          </p:cNvPr>
          <p:cNvSpPr txBox="1">
            <a:spLocks/>
          </p:cNvSpPr>
          <p:nvPr/>
        </p:nvSpPr>
        <p:spPr>
          <a:xfrm>
            <a:off x="598678" y="1049154"/>
            <a:ext cx="7207158" cy="458330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Font typeface="HCLTech Roobert" panose="020B0504030202060203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HCLTech Roobert" panose="020B0504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HCLTech Roobert" panose="020B0504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HCLTech Roobert" panose="020B0504030202060203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400" dirty="0" err="1">
                <a:solidFill>
                  <a:srgbClr val="000000"/>
                </a:solidFill>
                <a:latin typeface="HCLTech Roobert"/>
              </a:rPr>
              <a:t>FastAPI</a:t>
            </a:r>
            <a:r>
              <a:rPr lang="en-US" sz="1400" dirty="0">
                <a:solidFill>
                  <a:srgbClr val="000000"/>
                </a:solidFill>
                <a:latin typeface="HCLTech Roobert"/>
              </a:rPr>
              <a:t> (Backend Framework)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FastAPI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is used to build high-performance REST APIs for the FinGen AI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platform.It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enables fast communication between the frontend, AI engine, and knowledge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storage.Its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automatic API documentation and asynchronous processing improve development efficiency.</a:t>
            </a:r>
            <a:br>
              <a:rPr lang="en-US" sz="1400" b="0" dirty="0">
                <a:solidFill>
                  <a:srgbClr val="000000"/>
                </a:solidFill>
                <a:latin typeface="HCLTech Roobert"/>
              </a:rPr>
            </a:br>
            <a:br>
              <a:rPr lang="en-US" sz="1400" b="0" dirty="0">
                <a:solidFill>
                  <a:srgbClr val="000000"/>
                </a:solidFill>
                <a:latin typeface="HCLTech Roobert"/>
              </a:rPr>
            </a:br>
            <a:r>
              <a:rPr lang="en-US" sz="1400" dirty="0">
                <a:solidFill>
                  <a:srgbClr val="000000"/>
                </a:solidFill>
                <a:latin typeface="HCLTech Roobert"/>
              </a:rPr>
              <a:t>React.js (Frontend Framework)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React.js powers the interactive user interface of the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platform.It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allows modular components such as Chatbot UI, Knowledge Hub, and Assessment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module.The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component-based architecture ensures scalability and smooth user experience.</a:t>
            </a:r>
            <a:br>
              <a:rPr lang="en-US" sz="1400" b="0" dirty="0">
                <a:solidFill>
                  <a:srgbClr val="000000"/>
                </a:solidFill>
                <a:latin typeface="HCLTech Roobert"/>
              </a:rPr>
            </a:br>
            <a:br>
              <a:rPr lang="en-US" sz="1400" b="0" dirty="0">
                <a:solidFill>
                  <a:srgbClr val="000000"/>
                </a:solidFill>
                <a:latin typeface="HCLTech Roobert"/>
              </a:rPr>
            </a:br>
            <a:r>
              <a:rPr lang="en-US" sz="1400" dirty="0">
                <a:solidFill>
                  <a:srgbClr val="000000"/>
                </a:solidFill>
                <a:latin typeface="HCLTech Roobert"/>
              </a:rPr>
              <a:t>Ollama + </a:t>
            </a:r>
            <a:r>
              <a:rPr lang="en-US" sz="1400" dirty="0" err="1">
                <a:solidFill>
                  <a:srgbClr val="000000"/>
                </a:solidFill>
                <a:latin typeface="HCLTech Roobert"/>
              </a:rPr>
              <a:t>LLaMA</a:t>
            </a:r>
            <a:r>
              <a:rPr lang="en-US" sz="1400" dirty="0">
                <a:solidFill>
                  <a:srgbClr val="000000"/>
                </a:solidFill>
                <a:latin typeface="HCLTech Roobert"/>
              </a:rPr>
              <a:t> 3.2 (AI Engine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) Ollama runs the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LLaMA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3.2 model locally to generate AI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responses.The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model supports question generation, chat assistance, and answer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evaluation.Running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the AI locally ensures privacy, faster responses, and enterprise security.</a:t>
            </a:r>
            <a:br>
              <a:rPr lang="en-US" sz="1400" b="0" dirty="0">
                <a:solidFill>
                  <a:srgbClr val="000000"/>
                </a:solidFill>
                <a:latin typeface="HCLTech Roobert"/>
              </a:rPr>
            </a:br>
            <a:br>
              <a:rPr lang="en-US" sz="1400" dirty="0">
                <a:solidFill>
                  <a:srgbClr val="000000"/>
                </a:solidFill>
                <a:latin typeface="HCLTech Roobert"/>
              </a:rPr>
            </a:br>
            <a:r>
              <a:rPr lang="en-US" sz="1400" dirty="0">
                <a:solidFill>
                  <a:srgbClr val="000000"/>
                </a:solidFill>
                <a:latin typeface="HCLTech Roobert"/>
              </a:rPr>
              <a:t>Retrieval-Augmented Generation (RAG) 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RAG ensures that AI responses come from the uploaded knowledge base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documents.The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system retrieves relevant information before generating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answers.This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approach improves accuracy and reduces hallucinated AI responses.</a:t>
            </a:r>
            <a:br>
              <a:rPr lang="en-US" sz="1400" b="0" dirty="0">
                <a:solidFill>
                  <a:srgbClr val="000000"/>
                </a:solidFill>
                <a:latin typeface="HCLTech Roobert"/>
              </a:rPr>
            </a:br>
            <a:br>
              <a:rPr lang="en-US" sz="1400" b="0" dirty="0">
                <a:solidFill>
                  <a:srgbClr val="000000"/>
                </a:solidFill>
                <a:latin typeface="HCLTech Roobert"/>
              </a:rPr>
            </a:br>
            <a:r>
              <a:rPr lang="en-US" sz="1400" dirty="0">
                <a:solidFill>
                  <a:srgbClr val="000000"/>
                </a:solidFill>
                <a:latin typeface="HCLTech Roobert"/>
              </a:rPr>
              <a:t>React Flow (Learning Roadmap Visualization) 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React Flow is used to build an interactive roadmap for banking knowledge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topics.It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enables zoom, pan, node connections, and dynamic topic </a:t>
            </a:r>
            <a:r>
              <a:rPr lang="en-US" sz="1400" b="0" dirty="0" err="1">
                <a:solidFill>
                  <a:srgbClr val="000000"/>
                </a:solidFill>
                <a:latin typeface="HCLTech Roobert"/>
              </a:rPr>
              <a:t>navigation.This</a:t>
            </a:r>
            <a:r>
              <a:rPr lang="en-US" sz="1400" b="0" dirty="0">
                <a:solidFill>
                  <a:srgbClr val="000000"/>
                </a:solidFill>
                <a:latin typeface="HCLTech Roobert"/>
              </a:rPr>
              <a:t> visual learning interface improves user understanding of complex workflows.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HCLTech Roobert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8192160-F677-6B62-7C77-56372C4E9A77}"/>
              </a:ext>
            </a:extLst>
          </p:cNvPr>
          <p:cNvSpPr txBox="1">
            <a:spLocks/>
          </p:cNvSpPr>
          <p:nvPr/>
        </p:nvSpPr>
        <p:spPr>
          <a:xfrm>
            <a:off x="7999024" y="1049154"/>
            <a:ext cx="3746153" cy="4583308"/>
          </a:xfrm>
          <a:prstGeom prst="roundRect">
            <a:avLst>
              <a:gd name="adj" fmla="val 2908"/>
            </a:avLst>
          </a:prstGeom>
          <a:solidFill>
            <a:schemeClr val="tx2">
              <a:lumMod val="75000"/>
            </a:schemeClr>
          </a:solidFill>
        </p:spPr>
        <p:txBody>
          <a:bodyPr vert="horz" lIns="557784" tIns="288000" rIns="252000" bIns="288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Font typeface="HCLTech Roobert" panose="020B0504030202060203" pitchFamily="34" charset="0"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HCLTech Roobert" panose="020B0504030202060203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Font typeface="HCLTech Roobert" panose="020B0504030202060203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HCLTech Roobert" panose="020B0504030202060203" pitchFamily="34" charset="0"/>
              <a:buChar char="–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HCLTech Roobert" panose="020B0504030202060203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HCLTech Roobert"/>
              </a:rPr>
              <a:t>AI &amp; Intelligent Processing Stack</a:t>
            </a:r>
          </a:p>
          <a:p>
            <a:pPr marL="285750" lvl="0" indent="-285750">
              <a:buFont typeface="Arial,Sans-Serif"/>
              <a:buChar char="•"/>
              <a:defRPr/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HCLTech Roobert"/>
              </a:rPr>
              <a:t>Ollama with </a:t>
            </a:r>
            <a:r>
              <a:rPr lang="en-US" sz="1400" b="1" dirty="0" err="1">
                <a:solidFill>
                  <a:srgbClr val="FFFFFF"/>
                </a:solidFill>
                <a:ea typeface="+mn-lt"/>
                <a:cs typeface="HCLTech Roobert"/>
              </a:rPr>
              <a:t>LLaMA</a:t>
            </a:r>
            <a:r>
              <a:rPr lang="en-US" sz="1400" b="1" dirty="0">
                <a:solidFill>
                  <a:srgbClr val="FFFFFF"/>
                </a:solidFill>
                <a:ea typeface="+mn-lt"/>
                <a:cs typeface="HCLTech Roobert"/>
              </a:rPr>
              <a:t> 3.2 </a:t>
            </a:r>
            <a:r>
              <a:rPr lang="en-US" sz="1400" dirty="0">
                <a:solidFill>
                  <a:srgbClr val="FFFFFF"/>
                </a:solidFill>
                <a:ea typeface="+mn-lt"/>
                <a:cs typeface="HCLTech Roobert"/>
              </a:rPr>
              <a:t>for local AI-powered reasoning and response generation</a:t>
            </a:r>
          </a:p>
          <a:p>
            <a:pPr marL="285750" lvl="0" indent="-285750">
              <a:buFont typeface="Arial,Sans-Serif"/>
              <a:buChar char="•"/>
              <a:defRPr/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HCLTech Roobert"/>
              </a:rPr>
              <a:t>Retrieval-Augmented Generation </a:t>
            </a:r>
            <a:r>
              <a:rPr lang="en-US" sz="1400" dirty="0">
                <a:solidFill>
                  <a:srgbClr val="FFFFFF"/>
                </a:solidFill>
                <a:ea typeface="+mn-lt"/>
                <a:cs typeface="HCLTech Roobert"/>
              </a:rPr>
              <a:t>(RAG) to retrieve answers directly from the Knowledge Hub</a:t>
            </a:r>
          </a:p>
          <a:p>
            <a:pPr marL="285750" lvl="0" indent="-285750">
              <a:buFont typeface="Arial,Sans-Serif"/>
              <a:buChar char="•"/>
              <a:defRPr/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HCLTech Roobert"/>
              </a:rPr>
              <a:t>AI-driven Question Generation </a:t>
            </a:r>
            <a:r>
              <a:rPr lang="en-US" sz="1400" dirty="0">
                <a:solidFill>
                  <a:srgbClr val="FFFFFF"/>
                </a:solidFill>
                <a:ea typeface="+mn-lt"/>
                <a:cs typeface="HCLTech Roobert"/>
              </a:rPr>
              <a:t>for dynamic knowledge-based assessments*</a:t>
            </a:r>
          </a:p>
          <a:p>
            <a:pPr marL="285750" lvl="0" indent="-285750">
              <a:buFont typeface="Arial,Sans-Serif"/>
              <a:buChar char="•"/>
              <a:defRPr/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HCLTech Roobert"/>
              </a:rPr>
              <a:t>AI Evaluation Engine </a:t>
            </a:r>
            <a:r>
              <a:rPr lang="en-US" sz="1400" dirty="0">
                <a:solidFill>
                  <a:srgbClr val="FFFFFF"/>
                </a:solidFill>
                <a:ea typeface="+mn-lt"/>
                <a:cs typeface="HCLTech Roobert"/>
              </a:rPr>
              <a:t>for scoring answers and generating feedback with expected key points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2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6F41-3C6B-B40F-E1CA-E08B1F708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8D04F-0248-F460-C435-07743E29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2" y="6448310"/>
            <a:ext cx="236821" cy="13849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 Light"/>
              <a:ea typeface="+mn-ea"/>
              <a:cs typeface="+mn-cs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884FC95-7F56-9946-E233-F319FD184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" t="3460" b="5792"/>
          <a:stretch>
            <a:fillRect/>
          </a:stretch>
        </p:blipFill>
        <p:spPr bwMode="auto">
          <a:xfrm>
            <a:off x="2118166" y="-1"/>
            <a:ext cx="7810663" cy="667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82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05F0-7D25-A115-90BA-9D23D838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93" y="156413"/>
            <a:ext cx="11430000" cy="478537"/>
          </a:xfrm>
        </p:spPr>
        <p:txBody>
          <a:bodyPr/>
          <a:lstStyle/>
          <a:p>
            <a:r>
              <a:rPr lang="en-IN" b="1" dirty="0"/>
              <a:t>FINGEN –AI COMPANION (UI SNAPSHOTS)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9E758-CDEB-1CC1-5B2D-AB254AAF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09641"/>
            <a:ext cx="8630264" cy="39466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A613B9-D99C-9990-0833-7029222AC3E4}"/>
              </a:ext>
            </a:extLst>
          </p:cNvPr>
          <p:cNvSpPr/>
          <p:nvPr/>
        </p:nvSpPr>
        <p:spPr>
          <a:xfrm>
            <a:off x="274493" y="1201737"/>
            <a:ext cx="12872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Homepage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96555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D18E-0D45-3E5C-3FD2-339EAAFB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A35D-CE16-E4C4-E9DB-9B361D43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93" y="156413"/>
            <a:ext cx="11430000" cy="478537"/>
          </a:xfrm>
        </p:spPr>
        <p:txBody>
          <a:bodyPr/>
          <a:lstStyle/>
          <a:p>
            <a:r>
              <a:rPr lang="en-IN" b="1" dirty="0"/>
              <a:t>FINGEN –AI COMPANION (UI SNAPSHOTS)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2F508-1A37-82DD-42DC-4D509EA9B8F8}"/>
              </a:ext>
            </a:extLst>
          </p:cNvPr>
          <p:cNvSpPr/>
          <p:nvPr/>
        </p:nvSpPr>
        <p:spPr>
          <a:xfrm>
            <a:off x="274493" y="634950"/>
            <a:ext cx="17443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Knowledge Hub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8F650-DC45-BFE3-9159-274A12B55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93" y="1575152"/>
            <a:ext cx="11012129" cy="346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0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A664-421F-A6BD-A4E9-8C944B48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0F44-02F2-5742-6AD5-C7DFA6FE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93" y="156413"/>
            <a:ext cx="11430000" cy="478537"/>
          </a:xfrm>
        </p:spPr>
        <p:txBody>
          <a:bodyPr/>
          <a:lstStyle/>
          <a:p>
            <a:r>
              <a:rPr lang="en-IN" b="1" dirty="0"/>
              <a:t>FINGEN –AI COMPANION (UI SNAPSHOTS)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778041-5260-AB51-92AB-6E7F19FE1645}"/>
              </a:ext>
            </a:extLst>
          </p:cNvPr>
          <p:cNvSpPr/>
          <p:nvPr/>
        </p:nvSpPr>
        <p:spPr>
          <a:xfrm>
            <a:off x="274493" y="630803"/>
            <a:ext cx="117057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RoadMap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ACA27-4BB2-BD15-7853-9EEB1138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3" y="1355972"/>
            <a:ext cx="9301316" cy="376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5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D3C9-5094-7EDF-9522-227CDDDA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E6D0-E858-C236-6087-E98FCA56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93" y="156413"/>
            <a:ext cx="11430000" cy="478537"/>
          </a:xfrm>
        </p:spPr>
        <p:txBody>
          <a:bodyPr/>
          <a:lstStyle/>
          <a:p>
            <a:r>
              <a:rPr lang="en-IN" b="1" dirty="0"/>
              <a:t>FINGEN –AI COMPANION (UI SNAPSHOTS)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821595-6A3C-E046-542A-D6605C98E7AB}"/>
              </a:ext>
            </a:extLst>
          </p:cNvPr>
          <p:cNvSpPr/>
          <p:nvPr/>
        </p:nvSpPr>
        <p:spPr>
          <a:xfrm>
            <a:off x="274493" y="660300"/>
            <a:ext cx="12613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 </a:t>
            </a:r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Chatbot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BCDBF1-5BB9-0A7A-BB2E-DB0E6A1E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2" y="1393368"/>
            <a:ext cx="10078065" cy="45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4374-35DC-D9CC-1996-6E1112F34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0B70-19E0-B06E-DA65-77698FD8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93" y="156413"/>
            <a:ext cx="11430000" cy="478537"/>
          </a:xfrm>
        </p:spPr>
        <p:txBody>
          <a:bodyPr/>
          <a:lstStyle/>
          <a:p>
            <a:r>
              <a:rPr lang="en-IN" b="1" dirty="0"/>
              <a:t>FINGEN –AI COMPANION (UI SNAPSHOTS)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A79597-C103-3059-5CA9-502FCD9B6CAE}"/>
              </a:ext>
            </a:extLst>
          </p:cNvPr>
          <p:cNvSpPr/>
          <p:nvPr/>
        </p:nvSpPr>
        <p:spPr>
          <a:xfrm>
            <a:off x="274493" y="722758"/>
            <a:ext cx="244118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Knowledge Assessment: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C5903C-95BD-1A53-6405-63DEE5B0E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1" y="1202757"/>
            <a:ext cx="8422597" cy="517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03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7F3B1-9C25-361E-C7A3-57759744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3307-4CAB-118C-99B1-974F638D5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b="1">
                <a:ea typeface="+mn-lt"/>
                <a:cs typeface="+mn-lt"/>
              </a:rPr>
              <a:t>Thank You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977704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567</Words>
  <Application>Microsoft Office PowerPoint</Application>
  <PresentationFormat>Widescreen</PresentationFormat>
  <Paragraphs>44</Paragraphs>
  <Slides>10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FINGEN – AI Companion for Level2 Production Support Engineer </vt:lpstr>
      <vt:lpstr>FinGen AI – Intelligent Knowledge &amp; Operations Assistant</vt:lpstr>
      <vt:lpstr>Technology Rationale</vt:lpstr>
      <vt:lpstr>PowerPoint Presentation</vt:lpstr>
      <vt:lpstr>FINGEN –AI COMPANION (UI SNAPSHOTS)</vt:lpstr>
      <vt:lpstr>FINGEN –AI COMPANION (UI SNAPSHOTS)</vt:lpstr>
      <vt:lpstr>FINGEN –AI COMPANION (UI SNAPSHOTS)</vt:lpstr>
      <vt:lpstr>FINGEN –AI COMPANION (UI SNAPSHOTS)</vt:lpstr>
      <vt:lpstr>FINGEN –AI COMPANION (UI SNAPSHOTS)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Sri Vastav Janyavula</dc:creator>
  <cp:lastModifiedBy>Sai Sri Vastav Janyavula</cp:lastModifiedBy>
  <cp:revision>9</cp:revision>
  <dcterms:created xsi:type="dcterms:W3CDTF">2026-03-09T17:31:12Z</dcterms:created>
  <dcterms:modified xsi:type="dcterms:W3CDTF">2026-05-04T19:22:20Z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2026-05-04T19:22:20Z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8c13d5d8-b108-43be-97c4-9a7f0494f0f9</vt:lpwstr>
  </property>
  <property fmtid="{D5CDD505-2E9C-101B-9397-08002B2CF9AE}" pid="8" name="MSIP_Label_556dfe78-8a37-4fb5-b4aa-b92b97e18d15_ContentBits">
    <vt:lpwstr>1</vt:lpwstr>
  </property>
  <property fmtid="{D5CDD505-2E9C-101B-9397-08002B2CF9AE}" pid="9" name="MSIP_Label_556dfe78-8a37-4fb5-b4aa-b92b97e18d15_Tag">
    <vt:lpwstr>10, 3, 0, 2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Classification: Internal</vt:lpwstr>
  </property>
</Properties>
</file>