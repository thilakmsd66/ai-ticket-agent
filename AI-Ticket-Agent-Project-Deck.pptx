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286000"/>
            <a:ext cx="1097280" cy="109728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31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C8FF"/>
                </a:solidFill>
                <a:latin typeface="Segoe UI"/>
              </a:rPr>
              <a:t>AI-POWERED INTERNAL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9748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4F7FF"/>
                </a:solidFill>
                <a:latin typeface="Segoe UI"/>
              </a:rPr>
              <a:t>IntelliTriage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0233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8D2F2"/>
                </a:solidFill>
                <a:latin typeface="Segoe UI"/>
              </a:rPr>
              <a:t>Smart clarification • Auto routing • Live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4937760"/>
            <a:ext cx="7772400" cy="822960"/>
          </a:xfrm>
          <a:prstGeom prst="roundRect">
            <a:avLst/>
          </a:prstGeom>
          <a:solidFill>
            <a:srgbClr val="262D73"/>
            <a:alpha val="82000"/>
          </a:solidFill>
          <a:ln w="1524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507492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Project overview · Architecture · Benefits ·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1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2" dur="500" fill="hold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0" presetID="10" presetClass="entr" presetSubtype="0" fill="hold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id="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62" dur="500" fill="hold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70" presetID="10" presetClass="entr" presetSubtype="0" fill="hold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0" presetID="10" presetClass="entr" presetSubtype="0" fill="hold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2" dur="500" fill="hold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0" presetID="10" presetClass="entr" presetSubtype="0" fill="hold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92" dur="500" fill="hold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🚀 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Why IntelliTriage exists, and what it delivers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743200" cy="420624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03120"/>
            <a:ext cx="777240" cy="77724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94560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F"/>
                </a:solidFill>
                <a:latin typeface="Segoe UI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2194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8D2F2"/>
                </a:solidFill>
                <a:latin typeface="Segoe UI"/>
              </a:rPr>
              <a:t>Reduce manual triage by routing every ticket with AI-grade precision.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743200" cy="420624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103120"/>
            <a:ext cx="777240" cy="77724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F"/>
                </a:solidFill>
                <a:latin typeface="Segoe UI"/>
              </a:rPr>
              <a:t>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291840"/>
            <a:ext cx="2194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8D2F2"/>
                </a:solidFill>
                <a:latin typeface="Segoe UI"/>
              </a:rPr>
              <a:t>Sub-second AI response with priority-aware processing.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743200" cy="420624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2103120"/>
            <a:ext cx="777240" cy="77724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194560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F"/>
                </a:solidFill>
                <a:latin typeface="Segoe UI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2194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8D2F2"/>
                </a:solidFill>
                <a:latin typeface="Segoe UI"/>
              </a:rPr>
              <a:t>Asks clarifying questions only when context is missing.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2743200" cy="420624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0" y="2103120"/>
            <a:ext cx="777240" cy="77724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194560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7FF"/>
                </a:solidFill>
                <a:latin typeface="Segoe UI"/>
              </a:rPr>
              <a:t>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291840"/>
            <a:ext cx="2194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8D2F2"/>
                </a:solidFill>
                <a:latin typeface="Segoe UI"/>
              </a:rPr>
              <a:t>Live analytics for teams, urgency, and trends.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2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22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5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44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2" dur="500" fill="hold"/>
                            <p:tgtEl>
                              <p:spTgt spid="1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0" presetID="10" presetClass="entr" presetSubtype="0" fill="hold" nodeType="afterEffect">
                      <p:stCondLst>
                        <p:cond delay="66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92" dur="500" fill="hold"/>
                            <p:tgtEl>
                              <p:spTgt spid="1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🏗  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End-to-end flow from user to AI to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194560" cy="182880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828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Submits issue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Text or voice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Receives clarifications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94560"/>
            <a:ext cx="2194560" cy="182880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0" y="2331720"/>
            <a:ext cx="640080" cy="64008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77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17520"/>
            <a:ext cx="1828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React + Vite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Dashboards, voice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Nginx container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194560"/>
            <a:ext cx="2194560" cy="182880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2331720"/>
            <a:ext cx="640080" cy="64008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Backend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017520"/>
            <a:ext cx="1828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FastAPI + SQLAlchemy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Auth · Chat · Tickets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Clarity guardrails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777240"/>
            <a:ext cx="3566160" cy="182880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0" y="914400"/>
            <a:ext cx="640080" cy="640080"/>
          </a:xfrm>
          <a:prstGeom prst="ellipse">
            <a:avLst/>
          </a:prstGeom>
          <a:solidFill>
            <a:srgbClr val="FFB14A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9601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HCL AICafe (LLM)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6002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Clarification agent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Classification agent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JSON-structured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743200"/>
            <a:ext cx="3566160" cy="182880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0" y="2880360"/>
            <a:ext cx="640080" cy="64008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9260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Data Layer (SQLite)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6616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Users · Tickets · Feedback</a:t>
            </a:r>
          </a:p>
          <a:p>
            <a:pPr algn="l"/>
            <a:r>
              <a:rPr sz="1200" b="0">
                <a:solidFill>
                  <a:srgbClr val="C8D2F2"/>
                </a:solidFill>
                <a:latin typeface="Segoe UI"/>
              </a:rPr>
              <a:t>Local/demo persistence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697480" y="2971800"/>
            <a:ext cx="320040" cy="274320"/>
          </a:xfrm>
          <a:prstGeom prst="rightArrow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257800" y="2971800"/>
            <a:ext cx="320040" cy="274320"/>
          </a:xfrm>
          <a:prstGeom prst="rightArrow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7178040" y="1828800"/>
            <a:ext cx="365760" cy="548640"/>
          </a:xfrm>
          <a:prstGeom prst="upArrow">
            <a:avLst/>
          </a:prstGeom>
          <a:solidFill>
            <a:srgbClr val="FFB14A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7680960" y="1828800"/>
            <a:ext cx="365760" cy="548640"/>
          </a:xfrm>
          <a:prstGeom prst="downArrow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7818120" y="3520440"/>
            <a:ext cx="365760" cy="274320"/>
          </a:xfrm>
          <a:prstGeom prst="rightArrow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4846320"/>
            <a:ext cx="11247120" cy="12801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834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Flow:  User submits request  ➜  Frontend posts to /chat  ➜  Backend evaluates clarity</a:t>
            </a:r>
          </a:p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          ➜  AI asks clarification OR Backend creates ticket  ➜  Persisted in SQLite &amp; shown in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3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70" presetID="10" presetClass="entr" presetSubtype="0" fill="hold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72" dur="500" fill="hold"/>
                            <p:tgtEl>
                              <p:spTgt spid="2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36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5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80" presetID="10" presetClass="entr" presetSubtype="0" fill="hold" nodeType="afterEffect">
                      <p:stCondLst>
                        <p:cond delay="540"/>
                      </p:stCondLst>
                      <p:childTnLst>
                        <p:set>
                          <p:cBhvr>
                            <p:cTn id="2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82" dur="500" fill="hold"/>
                            <p:tgtEl>
                              <p:spTgt spid="2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2" dur="500" fill="hold"/>
                            <p:tgtEl>
                              <p:spTgt spid="1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90" presetID="10" presetClass="entr" presetSubtype="0" fill="hold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2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92" dur="500" fill="hold"/>
                            <p:tgtEl>
                              <p:spTgt spid="2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00" presetID="10" presetClass="entr" presetSubtype="0" fill="hold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3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302" dur="500" fill="hold"/>
                            <p:tgtEl>
                              <p:spTgt spid="3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0" presetID="10" presetClass="entr" presetSubtype="0" fill="hold" nodeType="afterEffect">
                      <p:stCondLst>
                        <p:cond delay="126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92" dur="500" fill="hold"/>
                            <p:tgtEl>
                              <p:spTgt spid="1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10" presetID="10" presetClass="entr" presetSubtype="0" fill="hold" nodeType="afterEffect">
                      <p:stCondLst>
                        <p:cond delay="1440"/>
                      </p:stCondLst>
                      <p:childTnLst>
                        <p:set>
                          <p:cBhvr>
                            <p:cTn id="3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312" dur="500" fill="hold"/>
                            <p:tgtEl>
                              <p:spTgt spid="3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30" presetID="10" presetClass="entr" presetSubtype="0" fill="hold" nodeType="afterEffect">
                      <p:stCondLst>
                        <p:cond delay="1620"/>
                      </p:stCondLst>
                      <p:childTnLst>
                        <p:set>
                          <p:cBhvr>
                            <p:cTn id="2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32" dur="500" fill="hold"/>
                            <p:tgtEl>
                              <p:spTgt spid="2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20" presetID="10" presetClass="entr" presetSubtype="0" fill="hold" nodeType="afterEffect">
                      <p:stCondLst>
                        <p:cond delay="1800"/>
                      </p:stCondLst>
                      <p:childTnLst>
                        <p:set>
                          <p:cBhvr>
                            <p:cTn id="3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322" dur="500" fill="hold"/>
                            <p:tgtEl>
                              <p:spTgt spid="3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🧭  AI Decision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Asks only when needed. Creates the ticket the moment clarity is 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697480" cy="3108960"/>
          </a:xfrm>
          <a:prstGeom prst="roundRect">
            <a:avLst/>
          </a:prstGeom>
          <a:solidFill>
            <a:srgbClr val="1A1F55"/>
            <a:alpha val="82000"/>
          </a:solidFill>
          <a:ln w="1778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377440"/>
            <a:ext cx="868680" cy="86868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EC8FF"/>
                </a:solidFill>
                <a:latin typeface="Segoe U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4F7FF"/>
                </a:solidFill>
                <a:latin typeface="Segoe UI"/>
              </a:rPr>
              <a:t>User submits request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3429000"/>
            <a:ext cx="164592" cy="274320"/>
          </a:xfrm>
          <a:prstGeom prst="rightArrow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9272" y="2011680"/>
            <a:ext cx="2697480" cy="3108960"/>
          </a:xfrm>
          <a:prstGeom prst="roundRect">
            <a:avLst/>
          </a:prstGeom>
          <a:solidFill>
            <a:srgbClr val="1A1F55"/>
            <a:alpha val="82000"/>
          </a:solidFill>
          <a:ln w="1778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33672" y="2377440"/>
            <a:ext cx="868680" cy="86868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38328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87BFF"/>
                </a:solidFill>
                <a:latin typeface="Segoe U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8404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4F7FF"/>
                </a:solidFill>
                <a:latin typeface="Segoe UI"/>
              </a:rPr>
              <a:t>Backend extracts clarity signals</a:t>
            </a:r>
          </a:p>
          <a:p>
            <a:pPr algn="ctr"/>
            <a:r>
              <a:rPr sz="1400" b="0">
                <a:solidFill>
                  <a:srgbClr val="F4F7FF"/>
                </a:solidFill>
                <a:latin typeface="Segoe UI"/>
              </a:rPr>
              <a:t>(system, issue, impact/urgency)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16752" y="3429000"/>
            <a:ext cx="164592" cy="274320"/>
          </a:xfrm>
          <a:prstGeom prst="rightArrow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2011680"/>
            <a:ext cx="2697480" cy="3108960"/>
          </a:xfrm>
          <a:prstGeom prst="roundRect">
            <a:avLst/>
          </a:prstGeom>
          <a:solidFill>
            <a:srgbClr val="1A1F55"/>
            <a:alpha val="82000"/>
          </a:solidFill>
          <a:ln w="17780"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95744" y="2377440"/>
            <a:ext cx="868680" cy="868680"/>
          </a:xfrm>
          <a:prstGeom prst="ellipse">
            <a:avLst/>
          </a:prstGeom>
          <a:solidFill>
            <a:srgbClr val="FFB14A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38328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B14A"/>
                </a:solidFill>
                <a:latin typeface="Segoe U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8404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4F7FF"/>
                </a:solidFill>
                <a:latin typeface="Segoe UI"/>
              </a:rPr>
              <a:t>Missing details?</a:t>
            </a:r>
          </a:p>
          <a:p>
            <a:pPr algn="ctr"/>
            <a:r>
              <a:rPr sz="1400" b="0">
                <a:solidFill>
                  <a:srgbClr val="F4F7FF"/>
                </a:solidFill>
                <a:latin typeface="Segoe UI"/>
              </a:rPr>
              <a:t>Ask one targeted clarification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78824" y="3429000"/>
            <a:ext cx="164592" cy="274320"/>
          </a:xfrm>
          <a:prstGeom prst="rightArrow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43416" y="2011680"/>
            <a:ext cx="2697480" cy="3108960"/>
          </a:xfrm>
          <a:prstGeom prst="roundRect">
            <a:avLst/>
          </a:prstGeom>
          <a:solidFill>
            <a:srgbClr val="1A1F55"/>
            <a:alpha val="82000"/>
          </a:solidFill>
          <a:ln w="1778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57816" y="2377440"/>
            <a:ext cx="868680" cy="86868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338328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5E0C1"/>
                </a:solidFill>
                <a:latin typeface="Segoe U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8404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4F7FF"/>
                </a:solidFill>
                <a:latin typeface="Segoe UI"/>
              </a:rPr>
              <a:t>Complete?</a:t>
            </a:r>
          </a:p>
          <a:p>
            <a:pPr algn="ctr"/>
            <a:r>
              <a:rPr sz="1400" b="0">
                <a:solidFill>
                  <a:srgbClr val="F4F7FF"/>
                </a:solidFill>
                <a:latin typeface="Segoe UI"/>
              </a:rPr>
              <a:t>Create INC ticket + assign team &amp;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Guardrail: even if the model says “no clarification needed”, the backend re-checks for</a:t>
            </a:r>
          </a:p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system + issue + impact/urgency before creating the ticket.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4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24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0" presetID="10" presetClass="entr" presetSubtype="0" fill="hold" nodeType="afterEffect">
                      <p:stCondLst>
                        <p:cond delay="480"/>
                      </p:stCondLst>
                      <p:childTnLst>
                        <p:set>
                          <p:cBhvr>
                            <p:cTn id="1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72" dur="500" fill="hold"/>
                            <p:tgtEl>
                              <p:spTgt spid="1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0" presetID="10" presetClass="entr" presetSubtype="0" fill="hold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2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22" dur="500" fill="hold"/>
                            <p:tgtEl>
                              <p:spTgt spid="2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✨ 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Capabilities packed into the daily user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657600" cy="22402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03120"/>
            <a:ext cx="731520" cy="73152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AI Clarification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Targeted follow-up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657600" cy="22402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103120"/>
            <a:ext cx="731520" cy="73152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4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Smart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Team + P1–P4 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828800"/>
            <a:ext cx="3657600" cy="22402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103120"/>
            <a:ext cx="731520" cy="73152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Voice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175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Hands-free ticket capture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3657600" cy="22402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572000"/>
            <a:ext cx="731520" cy="73152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6177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Live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Volume, trends, priorities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297680"/>
            <a:ext cx="3657600" cy="22402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0" y="4572000"/>
            <a:ext cx="731520" cy="73152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6177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Secure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4864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JWT + email 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297680"/>
            <a:ext cx="3657600" cy="22402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80" y="4572000"/>
            <a:ext cx="731520" cy="731520"/>
          </a:xfrm>
          <a:prstGeom prst="ellipse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6177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Segoe UI"/>
              </a:rPr>
              <a:t>AI Feedback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4864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2F2"/>
                </a:solidFill>
                <a:latin typeface="Segoe UI"/>
              </a:rPr>
              <a:t>Rate AI for continual 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5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6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5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32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2" dur="500" fill="hold"/>
                            <p:tgtEl>
                              <p:spTgt spid="1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0" presetID="10" presetClass="entr" presetSubtype="0" fill="hold" nodeType="afterEffect">
                      <p:stCondLst>
                        <p:cond delay="48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92" dur="500" fill="hold"/>
                            <p:tgtEl>
                              <p:spTgt spid="1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30" presetID="10" presetClass="entr" presetSubtype="0" fill="hold" nodeType="afterEffect">
                      <p:stCondLst>
                        <p:cond delay="640"/>
                      </p:stCondLst>
                      <p:childTnLst>
                        <p:set>
                          <p:cBhvr>
                            <p:cTn id="2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32" dur="500" fill="hold"/>
                            <p:tgtEl>
                              <p:spTgt spid="2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70" presetID="10" presetClass="entr" presetSubtype="0" fill="hold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2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72" dur="500" fill="hold"/>
                            <p:tgtEl>
                              <p:spTgt spid="2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🌟  Business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Operational gains and improved user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86400" cy="420624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993392"/>
            <a:ext cx="685800" cy="68580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574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7FF"/>
                </a:solidFill>
                <a:latin typeface="Segoe UI"/>
              </a:rPr>
              <a:t>For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5029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Cleaner tickets, fewer back-and-forths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Consistent team assignment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Automatic priority tagging (P1–P4)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Reduced manual triage time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Audit trail across user + AI exchanges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86400" cy="420624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993392"/>
            <a:ext cx="685800" cy="68580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574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7FF"/>
                </a:solidFill>
                <a:latin typeface="Segoe UI"/>
              </a:rPr>
              <a:t>For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5029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Guided ticket creation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Faster first response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Voice + text accessibility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Real-time status visibility</a:t>
            </a:r>
          </a:p>
          <a:p>
            <a:pPr algn="l"/>
            <a:r>
              <a:rPr sz="1600" b="0">
                <a:solidFill>
                  <a:srgbClr val="F4F7FF"/>
                </a:solidFill>
                <a:latin typeface="Segoe UI"/>
              </a:rPr>
              <a:t>✓  Clear progress through the AI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6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5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🔌  API &amp; Platform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Modular, REST-style, container-ready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C8FF"/>
                </a:solidFill>
                <a:latin typeface="Segoe UI"/>
              </a:rPr>
              <a:t>🩺 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GET /health/aicafe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C8FF"/>
                </a:solidFill>
                <a:latin typeface="Segoe UI"/>
              </a:rPr>
              <a:t>💬 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POST /chat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GET /chat (help)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82880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C8FF"/>
                </a:solidFill>
                <a:latin typeface="Segoe UI"/>
              </a:rPr>
              <a:t>🎫  Tickets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060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GET /tickets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PUT /tickets/{id}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POST /tickets/{id}/cancel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POST /tickets/{id}/feedback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5196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C8FF"/>
                </a:solidFill>
                <a:latin typeface="Segoe UI"/>
              </a:rPr>
              <a:t>🔐 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POST /auth/register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POST /auth/login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POST /auth/forgot-password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POST /auth/reset-password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GET /auth/me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25196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4348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C8FF"/>
                </a:solidFill>
                <a:latin typeface="Segoe UI"/>
              </a:rPr>
              <a:t>👮 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0292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GET /admin/feedbacks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25196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4348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C8FF"/>
                </a:solidFill>
                <a:latin typeface="Segoe UI"/>
              </a:rPr>
              <a:t>📦 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2920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Frontend :3000 (Nginx)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Backend :8080 (Uvicorn)</a:t>
            </a:r>
          </a:p>
          <a:p>
            <a:pPr algn="l"/>
            <a:r>
              <a:rPr sz="1300" b="0">
                <a:solidFill>
                  <a:srgbClr val="F4F7FF"/>
                </a:solidFill>
                <a:latin typeface="Segoe UI"/>
              </a:rPr>
              <a:t>Podman bridge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7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00" presetID="10" presetClass="entr" presetSubtype="0" fill="hold" nodeType="afterEffect">
                      <p:stCondLst>
                        <p:cond delay="14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02" dur="500" fill="hold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8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2" dur="500" fill="hold"/>
                            <p:tgtEl>
                              <p:spTgt spid="1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0" presetID="10" presetClass="entr" presetSubtype="0" fill="hold" nodeType="afterEffect">
                      <p:stCondLst>
                        <p:cond delay="42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62" dur="500" fill="hold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0" presetID="10" presetClass="entr" presetSubtype="0" fill="hold" nodeType="afterEffect">
                      <p:stCondLst>
                        <p:cond delay="56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92" dur="500" fill="hold"/>
                            <p:tgtEl>
                              <p:spTgt spid="1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0" presetID="10" presetClass="entr" presetSubtype="0" fill="hold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22" dur="500" fill="hold"/>
                            <p:tgtEl>
                              <p:spTgt spid="2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🛡  Security &amp;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Defense-in-depth with graceful degradation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03120"/>
            <a:ext cx="731520" cy="73152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F"/>
                </a:solidFill>
                <a:latin typeface="Segoe UI"/>
              </a:rPr>
              <a:t>JWT Auth +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8D2F2"/>
                </a:solidFill>
                <a:latin typeface="Segoe UI"/>
              </a:rPr>
              <a:t>Tokens, roles, signed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103120"/>
            <a:ext cx="731520" cy="73152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4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F"/>
                </a:solidFill>
                <a:latin typeface="Segoe UI"/>
              </a:rPr>
              <a:t>Password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8D2F2"/>
                </a:solidFill>
                <a:latin typeface="Segoe UI"/>
              </a:rPr>
              <a:t>Bcrypt hashing, reset &amp; verify 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82880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103120"/>
            <a:ext cx="731520" cy="73152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F"/>
                </a:solidFill>
                <a:latin typeface="Segoe UI"/>
              </a:rPr>
              <a:t>CORS Hardening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175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8D2F2"/>
                </a:solidFill>
                <a:latin typeface="Segoe UI"/>
              </a:rPr>
              <a:t>Strict allow-list of origins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5196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526280"/>
            <a:ext cx="731520" cy="73152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7200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F"/>
                </a:solidFill>
                <a:latin typeface="Segoe UI"/>
              </a:rPr>
              <a:t>Health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8D2F2"/>
                </a:solidFill>
                <a:latin typeface="Segoe UI"/>
              </a:rPr>
              <a:t>Live AI reachability surfacing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25196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0" y="4526280"/>
            <a:ext cx="731520" cy="73152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57200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F"/>
                </a:solidFill>
                <a:latin typeface="Segoe UI"/>
              </a:rPr>
              <a:t>Graceful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4406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8D2F2"/>
                </a:solidFill>
                <a:latin typeface="Segoe UI"/>
              </a:rPr>
              <a:t>503s with actionable messages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251960"/>
            <a:ext cx="3657600" cy="219456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80" y="4526280"/>
            <a:ext cx="731520" cy="731520"/>
          </a:xfrm>
          <a:prstGeom prst="ellipse">
            <a:avLst/>
          </a:prstGeom>
          <a:solidFill>
            <a:srgbClr val="35E0C1"/>
          </a:solidFill>
          <a:ln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57200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F"/>
                </a:solidFill>
                <a:latin typeface="Segoe UI"/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4406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8D2F2"/>
                </a:solidFill>
                <a:latin typeface="Segoe UI"/>
              </a:rPr>
              <a:t>Tickets retain original + clarified 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8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4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5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28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2" dur="500" fill="hold"/>
                            <p:tgtEl>
                              <p:spTgt spid="1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0" presetID="10" presetClass="entr" presetSubtype="0" fill="hold" nodeType="afterEffect">
                      <p:stCondLst>
                        <p:cond delay="42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92" dur="500" fill="hold"/>
                            <p:tgtEl>
                              <p:spTgt spid="1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30" presetID="10" presetClass="entr" presetSubtype="0" fill="hold" nodeType="afterEffect">
                      <p:stCondLst>
                        <p:cond delay="560"/>
                      </p:stCondLst>
                      <p:childTnLst>
                        <p:set>
                          <p:cBhvr>
                            <p:cTn id="2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32" dur="500" fill="hold"/>
                            <p:tgtEl>
                              <p:spTgt spid="2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70" presetID="10" presetClass="entr" presetSubtype="0" fill="hold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72" dur="500" fill="hold"/>
                            <p:tgtEl>
                              <p:spTgt spid="2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🧰 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Modern, lightweight, container-friendly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6400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87B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React 18 · Vite · Material Symbols · Speech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42032"/>
            <a:ext cx="11155680" cy="6400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5E0C1"/>
                </a:solidFill>
                <a:latin typeface="Segoe U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79192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FastAPI · Pydantic · SQLAlchemy · httpx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55264"/>
            <a:ext cx="11155680" cy="6400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92424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B14A"/>
                </a:solidFill>
                <a:latin typeface="Segoe UI"/>
              </a:rPr>
              <a:t>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92424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HCL AICafe (OpenAI-compatible) · gpt-4.1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68496"/>
            <a:ext cx="11155680" cy="6400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0565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C8FF"/>
                </a:solidFill>
                <a:latin typeface="Segoe UI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SQLite (local/demo)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81728"/>
            <a:ext cx="11155680" cy="6400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1888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87BFF"/>
                </a:solidFill>
                <a:latin typeface="Segoe UI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1888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Brevo SMTP relay (verify + reset)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94960"/>
            <a:ext cx="11155680" cy="64008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5E0C1"/>
                </a:solidFill>
                <a:latin typeface="Segoe UI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53212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F"/>
                </a:solidFill>
                <a:latin typeface="Segoe UI"/>
              </a:rPr>
              <a:t>Podman containers · Bridge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9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0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02" dur="500" fill="hold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2" dur="500" fill="hold"/>
                            <p:tgtEl>
                              <p:spTgt spid="1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0" presetID="10" presetClass="entr" presetSubtype="0" fill="hold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62" dur="500" fill="hold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90" presetID="10" presetClass="entr" presetSubtype="0" fill="hold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92" dur="500" fill="hold"/>
                            <p:tgtEl>
                              <p:spTgt spid="1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20" presetID="10" presetClass="entr" presetSubtype="0" fill="hold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2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222" dur="500" fill="hold"/>
                            <p:tgtEl>
                              <p:spTgt spid="2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Segoe UI"/>
              </a:rPr>
              <a:t>🗺 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8D2F2"/>
                </a:solidFill>
                <a:latin typeface="Segoe UI"/>
              </a:rPr>
              <a:t>Where IntelliTriage is heading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657600" cy="4023360"/>
          </a:xfrm>
          <a:prstGeom prst="roundRect">
            <a:avLst/>
          </a:prstGeom>
          <a:solidFill>
            <a:srgbClr val="1A1F55"/>
            <a:alpha val="82000"/>
          </a:solidFill>
          <a:ln w="17780"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EC8FF"/>
                </a:solidFill>
                <a:latin typeface="Segoe U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Clarification + routing</a:t>
            </a:r>
          </a:p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Dashboard analytics</a:t>
            </a:r>
          </a:p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Voice assistant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3749040"/>
            <a:ext cx="164592" cy="274320"/>
          </a:xfrm>
          <a:prstGeom prst="rightArrow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920240"/>
            <a:ext cx="3657600" cy="4023360"/>
          </a:xfrm>
          <a:prstGeom prst="roundRect">
            <a:avLst/>
          </a:prstGeom>
          <a:solidFill>
            <a:srgbClr val="1A1F55"/>
            <a:alpha val="82000"/>
          </a:solidFill>
          <a:ln w="1778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2402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A87BFF"/>
                </a:solidFill>
                <a:latin typeface="Segoe U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24612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Confidence scoring</a:t>
            </a:r>
          </a:p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Multi-language support</a:t>
            </a:r>
          </a:p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Report exports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28432" y="3749040"/>
            <a:ext cx="164592" cy="274320"/>
          </a:xfrm>
          <a:prstGeom prst="rightArrow">
            <a:avLst/>
          </a:prstGeom>
          <a:solidFill>
            <a:srgbClr val="A87BFF"/>
          </a:solidFill>
          <a:ln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024" y="1920240"/>
            <a:ext cx="3657600" cy="4023360"/>
          </a:xfrm>
          <a:prstGeom prst="roundRect">
            <a:avLst/>
          </a:prstGeom>
          <a:solidFill>
            <a:srgbClr val="1A1F55"/>
            <a:alpha val="82000"/>
          </a:solidFill>
          <a:ln w="1778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2402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35E0C1"/>
                </a:solidFill>
                <a:latin typeface="Segoe UI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3246120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Pluggable AI providers</a:t>
            </a:r>
          </a:p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Production DB + observability</a:t>
            </a:r>
          </a:p>
          <a:p>
            <a:pPr algn="ctr"/>
            <a:r>
              <a:rPr sz="1800" b="0">
                <a:solidFill>
                  <a:srgbClr val="F4F7FF"/>
                </a:solidFill>
                <a:latin typeface="Segoe UI"/>
              </a:rPr>
              <a:t>Workflow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72" dur="5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5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2" dur="500" fill="hold"/>
                            <p:tgtEl>
                              <p:spTgt spid="1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3A"/>
            <a:alpha val="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4960" y="1463040"/>
            <a:ext cx="1280160" cy="1280160"/>
          </a:xfrm>
          <a:prstGeom prst="ellipse">
            <a:avLst/>
          </a:prstGeom>
          <a:solidFill>
            <a:srgbClr val="5EC8FF"/>
          </a:solidFill>
          <a:ln>
            <a:solidFill>
              <a:srgbClr val="5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0123A"/>
                </a:solidFill>
                <a:latin typeface="Segoe UI Symbo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4F7FF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C8D2F2"/>
                </a:solidFill>
                <a:latin typeface="Segoe UI"/>
              </a:rPr>
              <a:t>Questions, feedback, demos — let's 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937760"/>
            <a:ext cx="5943600" cy="914400"/>
          </a:xfrm>
          <a:prstGeom prst="roundRect">
            <a:avLst/>
          </a:prstGeom>
          <a:solidFill>
            <a:srgbClr val="1A1F55"/>
            <a:alpha val="82000"/>
          </a:solidFill>
          <a:ln w="12700">
            <a:solidFill>
              <a:srgbClr val="A8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512064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4F7FF"/>
                </a:solidFill>
                <a:latin typeface="Segoe UI"/>
              </a:rPr>
              <a:t>🌐  Demo: http://localhost:3000     ⚙  API: http://localhost:8080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8D2F2"/>
                </a:solidFill>
                <a:latin typeface="Segoe UI"/>
              </a:rPr>
              <a:t>IntelliTriage • AI-Powered Internal Ticketing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8D2F2"/>
                </a:solidFill>
                <a:latin typeface="Segoe UI"/>
              </a:rPr>
              <a:t>11 /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2" dur="500" fill="hold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