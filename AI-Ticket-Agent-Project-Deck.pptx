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286000"/>
            <a:ext cx="1097280" cy="109728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31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EC8FF"/>
                </a:solidFill>
                <a:latin typeface="Segoe UI"/>
              </a:rPr>
              <a:t>AI-POWERED TICKET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697480"/>
            <a:ext cx="9144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1">
                <a:solidFill>
                  <a:srgbClr val="F4F7FF"/>
                </a:solidFill>
                <a:latin typeface="Segoe UI"/>
              </a:rPr>
              <a:t>IntelliTriage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402336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8D2F2"/>
                </a:solidFill>
                <a:latin typeface="Segoe UI"/>
              </a:rPr>
              <a:t>Smart clarification • Auto routing • Live insights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4937760"/>
            <a:ext cx="7772400" cy="822960"/>
          </a:xfrm>
          <a:prstGeom prst="roundRect">
            <a:avLst/>
          </a:prstGeom>
          <a:solidFill>
            <a:srgbClr val="262D73"/>
            <a:alpha val="82000"/>
          </a:solidFill>
          <a:ln w="1524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507492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Project overview · Architecture · Benefits ·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1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2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0" presetID="10" presetClass="entr" presetSubtype="0" fill="hold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62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0" presetID="10" presetClass="entr" presetSubtype="0" fill="hold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0" presetID="10" presetClass="entr" presetSubtype="0" fill="hold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2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0" presetID="10" presetClass="entr" presetSubtype="0" fill="hold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92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🚀 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Why IntelliTriage exists, and what it delivers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7432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103120"/>
            <a:ext cx="777240" cy="77724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94560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4F7FF"/>
                </a:solidFill>
                <a:latin typeface="Segoe UI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21945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8D2F2"/>
                </a:solidFill>
                <a:latin typeface="Segoe UI"/>
              </a:rPr>
              <a:t>Reduce manual triage by routing every ticket with AI-grade precision.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7432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2103120"/>
            <a:ext cx="777240" cy="77724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4F7FF"/>
                </a:solidFill>
                <a:latin typeface="Segoe UI"/>
              </a:rPr>
              <a:t>Speed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291840"/>
            <a:ext cx="21945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8D2F2"/>
                </a:solidFill>
                <a:latin typeface="Segoe UI"/>
              </a:rPr>
              <a:t>Sub-second AI response with priority-aware processing.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28800"/>
            <a:ext cx="27432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2103120"/>
            <a:ext cx="777240" cy="77724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194560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4F7FF"/>
                </a:solidFill>
                <a:latin typeface="Segoe UI"/>
              </a:rPr>
              <a:t>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91840"/>
            <a:ext cx="21945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8D2F2"/>
                </a:solidFill>
                <a:latin typeface="Segoe UI"/>
              </a:rPr>
              <a:t>Asks clarifying questions only when context is missing.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828800"/>
            <a:ext cx="27432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0" y="2103120"/>
            <a:ext cx="777240" cy="77724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2194560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4F7FF"/>
                </a:solidFill>
                <a:latin typeface="Segoe UI"/>
              </a:rPr>
              <a:t>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3291840"/>
            <a:ext cx="21945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8D2F2"/>
                </a:solidFill>
                <a:latin typeface="Segoe UI"/>
              </a:rPr>
              <a:t>Live analytics for teams, urgency, and trends.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2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22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0" presetID="10" presetClass="entr" presetSubtype="0" fill="hold" nodeType="afterEffect">
                      <p:stCondLst>
                        <p:cond delay="440"/>
                      </p:stCondLst>
                      <p:childTnLst>
                        <p:set>
                          <p:cBhvr>
                            <p:cTn id="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52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66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🏗  Solution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End-to-end flow from user to AI to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2194560" cy="18288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2331720"/>
            <a:ext cx="640080" cy="64008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Submits issue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Text or voice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Receives clarifications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194560"/>
            <a:ext cx="2194560" cy="18288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00400" y="2331720"/>
            <a:ext cx="640080" cy="64008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3774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01752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React + Vite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Dashboards, voice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Nginx container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94560"/>
            <a:ext cx="2194560" cy="18288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0" y="2331720"/>
            <a:ext cx="640080" cy="64008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Backend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01752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FastAPI + SQLAlchemy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Auth · Chat · Tickets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Clarity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777240"/>
            <a:ext cx="3566160" cy="18288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21040" y="914400"/>
            <a:ext cx="640080" cy="640080"/>
          </a:xfrm>
          <a:prstGeom prst="ellipse">
            <a:avLst/>
          </a:prstGeom>
          <a:solidFill>
            <a:srgbClr val="FFB14A"/>
          </a:solidFill>
          <a:ln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9601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HCL AICafe (LLM)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600200"/>
            <a:ext cx="3200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Clarification agent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Classification agent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JSON-structured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743200"/>
            <a:ext cx="3566160" cy="18288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21040" y="2880360"/>
            <a:ext cx="640080" cy="64008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Data Layer (SQLite)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56616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Users · Tickets · Feedback</a:t>
            </a:r>
          </a:p>
          <a:p>
            <a:pPr algn="l"/>
            <a:r>
              <a:rPr sz="1200" b="0">
                <a:solidFill>
                  <a:srgbClr val="C8D2F2"/>
                </a:solidFill>
                <a:latin typeface="Segoe UI"/>
              </a:rPr>
              <a:t>Local/demo persistence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697480" y="2971800"/>
            <a:ext cx="320040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5257800" y="2971800"/>
            <a:ext cx="320040" cy="274320"/>
          </a:xfrm>
          <a:prstGeom prst="rightArrow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7178040" y="1828800"/>
            <a:ext cx="365760" cy="548640"/>
          </a:xfrm>
          <a:prstGeom prst="upArrow">
            <a:avLst/>
          </a:prstGeom>
          <a:solidFill>
            <a:srgbClr val="FFB14A"/>
          </a:solidFill>
          <a:ln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7680960" y="1828800"/>
            <a:ext cx="365760" cy="548640"/>
          </a:xfrm>
          <a:prstGeom prst="downArrow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>
            <a:off x="7818120" y="3520440"/>
            <a:ext cx="365760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846320"/>
            <a:ext cx="11247120" cy="12801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9834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Flow:  User submits request  ➜  Frontend posts to /chat  ➜  Backend evaluates clarity</a:t>
            </a:r>
          </a:p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          ➜  AI asks clarification OR Backend creates ticket  ➜  Persisted in SQLite &amp; shown in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3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0" presetID="10" presetClass="entr" presetSubtype="0" fill="hold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72" dur="500" fill="hold"/>
                            <p:tgtEl>
                              <p:spTgt spid="2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36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0" presetID="10" presetClass="entr" presetSubtype="0" fill="hold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2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82" dur="500" fill="hold"/>
                            <p:tgtEl>
                              <p:spTgt spid="2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0" presetID="10" presetClass="entr" presetSubtype="0" fill="hold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52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0" presetID="10" presetClass="entr" presetSubtype="0" fill="hold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92" dur="500" fill="hold"/>
                            <p:tgtEl>
                              <p:spTgt spid="2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0" presetID="10" presetClass="entr" presetSubtype="0" fill="hold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302" dur="500" fill="hold"/>
                            <p:tgtEl>
                              <p:spTgt spid="3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126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0" presetID="10" presetClass="entr" presetSubtype="0" fill="hold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3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312" dur="500" fill="hold"/>
                            <p:tgtEl>
                              <p:spTgt spid="3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0" presetID="10" presetClass="entr" presetSubtype="0" fill="hold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2" dur="500" fill="hold"/>
                            <p:tgtEl>
                              <p:spTgt spid="2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0" presetID="10" presetClass="entr" presetSubtype="0" fill="hold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322" dur="500" fill="hold"/>
                            <p:tgtEl>
                              <p:spTgt spid="3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🧭  AI Decision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Asks only when needed. Creates the ticket the moment clarity is 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97480" cy="31089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2377440"/>
            <a:ext cx="868680" cy="86868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EC8FF"/>
                </a:solidFill>
                <a:latin typeface="Segoe U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User submits request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429000"/>
            <a:ext cx="164592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19272" y="2011680"/>
            <a:ext cx="2697480" cy="31089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33672" y="2377440"/>
            <a:ext cx="868680" cy="86868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338328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A87BFF"/>
                </a:solidFill>
                <a:latin typeface="Segoe U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384048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Backend extracts clarity signals</a:t>
            </a:r>
          </a:p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(system, issue, impact/urgency)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16752" y="3429000"/>
            <a:ext cx="164592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81344" y="2011680"/>
            <a:ext cx="2697480" cy="31089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95744" y="2377440"/>
            <a:ext cx="868680" cy="868680"/>
          </a:xfrm>
          <a:prstGeom prst="ellipse">
            <a:avLst/>
          </a:prstGeom>
          <a:solidFill>
            <a:srgbClr val="FFB14A"/>
          </a:solidFill>
          <a:ln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338328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B14A"/>
                </a:solidFill>
                <a:latin typeface="Segoe U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84048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Missing details?</a:t>
            </a:r>
          </a:p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Ask one targeted clarification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8824" y="3429000"/>
            <a:ext cx="164592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3416" y="2011680"/>
            <a:ext cx="2697480" cy="31089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57816" y="2377440"/>
            <a:ext cx="868680" cy="86868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3416" y="338328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5E0C1"/>
                </a:solidFill>
                <a:latin typeface="Segoe UI"/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84048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Complete?</a:t>
            </a:r>
          </a:p>
          <a:p>
            <a:pPr algn="ctr"/>
            <a:r>
              <a:rPr sz="1400" b="0">
                <a:solidFill>
                  <a:srgbClr val="F4F7FF"/>
                </a:solidFill>
                <a:latin typeface="Segoe UI"/>
              </a:rPr>
              <a:t>Create INC ticket + assign team &amp; priority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Guardrail: even if the model says “no clarification needed”, the backend re-checks for</a:t>
            </a:r>
          </a:p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system + issue + impact/urgency before creating the ticket.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4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0" presetID="10" presetClass="entr" presetSubtype="0" fill="hold" nodeType="afterEffect">
                      <p:stCondLst>
                        <p:cond delay="240"/>
                      </p:stCondLst>
                      <p:childTnLst>
                        <p:set>
                          <p:cBhvr>
                            <p:cTn id="1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22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" presetID="10" presetClass="entr" presetSubtype="0" fill="hold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1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2" dur="500" fill="hold"/>
                            <p:tgtEl>
                              <p:spTgt spid="1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0" presetID="10" presetClass="entr" presetSubtype="0" fill="hold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22" dur="500" fill="hold"/>
                            <p:tgtEl>
                              <p:spTgt spid="2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✨ 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Capabilities packed into the daily user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10312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AI Clarification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Targeted follow-up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10312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Smart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Team + P1–P4 priority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82880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10312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Voice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Hands-free ticket capture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9768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457200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1772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Live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864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Volume, trends, priorities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29768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457200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61772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Secure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4864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JWT + email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297680"/>
            <a:ext cx="3657600" cy="22402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12480" y="4572000"/>
            <a:ext cx="731520" cy="731520"/>
          </a:xfrm>
          <a:prstGeom prst="ellipse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61772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7FF"/>
                </a:solidFill>
                <a:latin typeface="Segoe UI"/>
              </a:rPr>
              <a:t>AI Feedback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4864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D2F2"/>
                </a:solidFill>
                <a:latin typeface="Segoe UI"/>
              </a:rPr>
              <a:t>Rate AI for continual improvement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5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16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0" presetID="10" presetClass="entr" presetSubtype="0" fill="hold" nodeType="afterEffect">
                      <p:stCondLst>
                        <p:cond delay="320"/>
                      </p:stCondLst>
                      <p:childTnLst>
                        <p:set>
                          <p:cBhvr>
                            <p:cTn id="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52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0" presetID="10" presetClass="entr" presetSubtype="0" fill="hold" nodeType="afterEffect">
                      <p:stCondLst>
                        <p:cond delay="640"/>
                      </p:stCondLst>
                      <p:childTnLst>
                        <p:set>
                          <p:cBhvr>
                            <p:cTn id="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2" dur="500" fill="hold"/>
                            <p:tgtEl>
                              <p:spTgt spid="2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0" presetID="10" presetClass="entr" presetSubtype="0" fill="hold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72" dur="500" fill="hold"/>
                            <p:tgtEl>
                              <p:spTgt spid="2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🌟  Business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Operational gains and improved user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54864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993392"/>
            <a:ext cx="685800" cy="68580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574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4F7FF"/>
                </a:solidFill>
                <a:latin typeface="Segoe UI"/>
              </a:rPr>
              <a:t>For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50292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Cleaner tickets, fewer back-and-forths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Consistent team assignment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Automatic priority tagging (P1–P4)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Reduced manual triage time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Audit trail across user + AI exchanges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420624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1993392"/>
            <a:ext cx="685800" cy="68580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574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4F7FF"/>
                </a:solidFill>
                <a:latin typeface="Segoe UI"/>
              </a:rPr>
              <a:t>For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834640"/>
            <a:ext cx="50292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Guided ticket creation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Faster first response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Voice + text accessibility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Real-time status visibility</a:t>
            </a:r>
          </a:p>
          <a:p>
            <a:pPr algn="l"/>
            <a:r>
              <a:rPr sz="1600" b="0">
                <a:solidFill>
                  <a:srgbClr val="F4F7FF"/>
                </a:solidFill>
                <a:latin typeface="Segoe UI"/>
              </a:rPr>
              <a:t>✓  Clear progress through the AI 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6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🔌  API &amp; Platform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Modular, REST-style, container-ready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🩺 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GET /health/aicafe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116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💬 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060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/chat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GET /chat (help)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🎫  Tickets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060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GET /tickets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PUT /tickets/{id}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/tickets/{id}/cancel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/tickets/{id}/feedback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🔐  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292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/auth/register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/auth/login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/auth/forgot-password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POST /auth/reset-password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GET /auth/me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4348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👮 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0292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GET /admin/feedbacks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44348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📦  Runtime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0292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Frontend :3000 (Nginx)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Backend :8080 (Uvicorn)</a:t>
            </a:r>
          </a:p>
          <a:p>
            <a:pPr algn="l"/>
            <a:r>
              <a:rPr sz="1300" b="0">
                <a:solidFill>
                  <a:srgbClr val="F4F7FF"/>
                </a:solidFill>
                <a:latin typeface="Segoe UI"/>
              </a:rPr>
              <a:t>Podman bridge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7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0" presetID="10" presetClass="entr" presetSubtype="0" fill="hold" nodeType="afterEffect">
                      <p:stCondLst>
                        <p:cond delay="140"/>
                      </p:stCondLst>
                      <p:childTnLst>
                        <p:set>
                          <p:cBhvr>
                            <p:cTn id="1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02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30" presetID="10" presetClass="entr" presetSubtype="0" fill="hold" nodeType="afterEffect">
                      <p:stCondLst>
                        <p:cond delay="280"/>
                      </p:stCondLst>
                      <p:childTnLst>
                        <p:set>
                          <p:cBhvr>
                            <p:cTn id="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32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0" presetID="10" presetClass="entr" presetSubtype="0" fill="hold" nodeType="afterEffect">
                      <p:stCondLst>
                        <p:cond delay="420"/>
                      </p:stCondLst>
                      <p:childTnLst>
                        <p:set>
                          <p:cBhvr>
                            <p:cTn id="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62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56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0" presetID="10" presetClass="entr" presetSubtype="0" fill="hold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22" dur="500" fill="hold"/>
                            <p:tgtEl>
                              <p:spTgt spid="2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🛡  Security &amp;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Defense-in-depth with graceful degradation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10312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JWT Auth + RBAC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Tokens, roles, signed sessions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10312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Password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Bcrypt hashing, reset &amp; verify 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82880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10312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1488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CORS Hardening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0175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Strict allow-list of origins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452628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5720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Health 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Live AI reachability surfacing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452628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5720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Graceful 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4406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503s with actionable messages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251960"/>
            <a:ext cx="3657600" cy="219456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12480" y="4526280"/>
            <a:ext cx="731520" cy="731520"/>
          </a:xfrm>
          <a:prstGeom prst="ellipse">
            <a:avLst/>
          </a:prstGeom>
          <a:solidFill>
            <a:srgbClr val="35E0C1"/>
          </a:solidFill>
          <a:ln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5720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7FF"/>
                </a:solidFill>
                <a:latin typeface="Segoe U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4406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D2F2"/>
                </a:solidFill>
                <a:latin typeface="Segoe UI"/>
              </a:rPr>
              <a:t>Tickets retain original + clarified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8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14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0" presetID="10" presetClass="entr" presetSubtype="0" fill="hold" nodeType="afterEffect">
                      <p:stCondLst>
                        <p:cond delay="280"/>
                      </p:stCondLst>
                      <p:childTnLst>
                        <p:set>
                          <p:cBhvr>
                            <p:cTn id="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52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42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0" presetID="10" presetClass="entr" presetSubtype="0" fill="hold" nodeType="afterEffect">
                      <p:stCondLst>
                        <p:cond delay="560"/>
                      </p:stCondLst>
                      <p:childTnLst>
                        <p:set>
                          <p:cBhvr>
                            <p:cTn id="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2" dur="500" fill="hold"/>
                            <p:tgtEl>
                              <p:spTgt spid="2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0" presetID="10" presetClass="entr" presetSubtype="0" fill="hold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72" dur="500" fill="hold"/>
                            <p:tgtEl>
                              <p:spTgt spid="2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🧰 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Modern, lightweight, container-friendly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A87BFF"/>
                </a:solidFill>
                <a:latin typeface="Segoe U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6596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React 18 · Vite · Material Symbols · Speech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42032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919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5E0C1"/>
                </a:solidFill>
                <a:latin typeface="Segoe U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791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FastAPI · Pydantic · SQLAlchemy · httpx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55264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FFB1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B14A"/>
                </a:solidFill>
                <a:latin typeface="Segoe UI"/>
              </a:rPr>
              <a:t>AI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392424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HCL AICafe (OpenAI-compatible) · gpt-4.1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68496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0565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C8FF"/>
                </a:solidFill>
                <a:latin typeface="Segoe UI"/>
              </a:rPr>
              <a:t>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105656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SQLite (local/demo)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81728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A87BFF"/>
                </a:solidFill>
                <a:latin typeface="Segoe UI"/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81888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Brevo SMTP relay (verify + reset)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94960"/>
            <a:ext cx="11155680" cy="64008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5E0C1"/>
                </a:solidFill>
                <a:latin typeface="Segoe UI"/>
              </a:rPr>
              <a:t>Runtime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53212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Segoe UI"/>
              </a:rPr>
              <a:t>Podman containers · Bridge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9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0" presetID="10" presetClass="entr" presetSubtype="0" fill="hold" nodeType="afterEffect">
                      <p:stCondLst>
                        <p:cond delay="150"/>
                      </p:stCondLst>
                      <p:childTnLst>
                        <p:set>
                          <p:cBhvr>
                            <p:cTn id="1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02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30" presetID="10" presetClass="entr" presetSubtype="0" fill="hold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32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0" presetID="10" presetClass="entr" presetSubtype="0" fill="hold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62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90" presetID="10" presetClass="entr" presetSubtype="0" fill="hold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92" dur="500" fill="hold"/>
                            <p:tgtEl>
                              <p:spTgt spid="1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0" presetID="10" presetClass="entr" presetSubtype="0" fill="hold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22" dur="500" fill="hold"/>
                            <p:tgtEl>
                              <p:spTgt spid="2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4F7FF"/>
                </a:solidFill>
                <a:latin typeface="Segoe UI"/>
              </a:rPr>
              <a:t>🗺 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8D2F2"/>
                </a:solidFill>
                <a:latin typeface="Segoe UI"/>
              </a:rPr>
              <a:t>Where IntelliTriage is heading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57600" cy="40233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EC8FF"/>
                </a:solidFill>
                <a:latin typeface="Segoe U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31089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Clarification + routing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Dashboard analytics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Voice assistant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06240" y="3749040"/>
            <a:ext cx="164592" cy="274320"/>
          </a:xfrm>
          <a:prstGeom prst="rightArrow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657600" cy="40233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224028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A87BFF"/>
                </a:solidFill>
                <a:latin typeface="Segoe UI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246120"/>
            <a:ext cx="31089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Confidence scoring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Multi-language support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Report exports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028432" y="3749040"/>
            <a:ext cx="164592" cy="274320"/>
          </a:xfrm>
          <a:prstGeom prst="rightArrow">
            <a:avLst/>
          </a:prstGeom>
          <a:solidFill>
            <a:srgbClr val="A87BFF"/>
          </a:solidFill>
          <a:ln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3024" y="1920240"/>
            <a:ext cx="3657600" cy="4023360"/>
          </a:xfrm>
          <a:prstGeom prst="roundRect">
            <a:avLst/>
          </a:prstGeom>
          <a:solidFill>
            <a:srgbClr val="1A1F55"/>
            <a:alpha val="82000"/>
          </a:solidFill>
          <a:ln w="17780">
            <a:solidFill>
              <a:srgbClr val="35E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24028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5E0C1"/>
                </a:solidFill>
                <a:latin typeface="Segoe UI"/>
              </a:rPr>
              <a:t>Later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246120"/>
            <a:ext cx="31089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Pluggable AI providers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Production DB + observability</a:t>
            </a:r>
          </a:p>
          <a:p>
            <a:pPr algn="ctr"/>
            <a:r>
              <a:rPr sz="1800" b="0">
                <a:solidFill>
                  <a:srgbClr val="F4F7FF"/>
                </a:solidFill>
                <a:latin typeface="Segoe UI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72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10" presetID="10" presetClass="entr" presetSubtype="0" fill="hold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2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0" presetID="10" presetClass="entr" presetSubtype="0" fill="hold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52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3A"/>
            <a:alpha val="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463040"/>
            <a:ext cx="1280160" cy="1280160"/>
          </a:xfrm>
          <a:prstGeom prst="ellipse">
            <a:avLst/>
          </a:prstGeom>
          <a:solidFill>
            <a:srgbClr val="5EC8FF"/>
          </a:solidFill>
          <a:ln>
            <a:solidFill>
              <a:srgbClr val="5E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0123A"/>
                </a:solidFill>
                <a:latin typeface="Segoe UI Symbol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4F7FF"/>
                </a:solidFill>
                <a:latin typeface="Segoe U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C8D2F2"/>
                </a:solidFill>
                <a:latin typeface="Segoe UI"/>
              </a:rPr>
              <a:t>Questions, feedback, demos — let's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4937760"/>
            <a:ext cx="5943600" cy="914400"/>
          </a:xfrm>
          <a:prstGeom prst="roundRect">
            <a:avLst/>
          </a:prstGeom>
          <a:solidFill>
            <a:srgbClr val="1A1F55"/>
            <a:alpha val="82000"/>
          </a:solidFill>
          <a:ln w="12700">
            <a:solidFill>
              <a:srgbClr val="A8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512064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4F7FF"/>
                </a:solidFill>
                <a:latin typeface="Segoe UI"/>
              </a:rPr>
              <a:t>🌐  Demo: http://localhost:3000     ⚙  API: http://localhost:8080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8D2F2"/>
                </a:solidFill>
                <a:latin typeface="Segoe UI"/>
              </a:rPr>
              <a:t>IntelliTriage • AI-Powered Ticket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C8D2F2"/>
                </a:solidFill>
                <a:latin typeface="Segoe UI"/>
              </a:rPr>
              <a:t>11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presetID="10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2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